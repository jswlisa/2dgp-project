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F59154-23E1-092C-144B-B6ABE28A85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33268C-97AE-A702-7D97-BB204D7FE7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3A754B-9F37-725F-C6F9-85B5F5B77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840C-0791-48E1-B671-13C468EA22EF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C51D08-6E46-D02F-6811-F578444AF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1E7F63-6D25-7AC1-1516-70CCB987A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6C99-6951-43E6-B476-CC1B37364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213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E75074-01C4-2CBB-6F62-D8A7C467E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C64C3A-7A84-A26F-71F6-EE4D1F0F2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2157CE-A338-BBA3-93C1-C005E4E64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840C-0791-48E1-B671-13C468EA22EF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BC7EBD-A1CA-402B-976F-21F4A3726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A3493D-ABEB-3193-8A8D-FCDC930CE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6C99-6951-43E6-B476-CC1B37364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807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C1FAEB-DDA7-4C61-FB21-4E5D1E842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2B2CFF-E52C-1F49-1660-14109C8B0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CA5E53-51BC-3E98-8138-95B56DCAE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840C-0791-48E1-B671-13C468EA22EF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8780F1-22EA-6DB2-B15F-1ADCD837E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44EF19-D6DA-E6DB-5AF5-23FF705E2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6C99-6951-43E6-B476-CC1B37364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000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99C3C3-9628-3398-112A-6F1D753E3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70321-D40D-ACAD-8555-C3F0E1C518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840961E-362F-5921-3B13-0D86C1F62C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EB95A5-CF38-E345-F822-1574099BB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840C-0791-48E1-B671-13C468EA22EF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FB1C23-5E8B-5238-269F-7F831C180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D7BD81-F7A5-0C84-A0B9-4EC6228BB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6C99-6951-43E6-B476-CC1B37364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454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46C54B-50B1-FBE8-5ACF-37A013092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997C24-E21E-F727-B3B0-308527517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F1A4BE-DC6D-C748-F511-A1478B532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280F397-0526-4004-4707-7C2E7B5141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D2F25DB-A58C-BAC8-E5DC-5356191923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DE9DB81-B5CC-6852-33A3-B8921C7E0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840C-0791-48E1-B671-13C468EA22EF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BD60592-71C9-334C-315B-A3FE49FCE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2390020-F76C-1F08-8105-81BEAB7B2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6C99-6951-43E6-B476-CC1B37364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205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11AFF6-2B8A-E2C4-4A45-5ED8EFC68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AEB508C-9502-A138-89F5-ADEB3A48D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840C-0791-48E1-B671-13C468EA22EF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5B87D6B-3487-E7C0-CE87-4658FC0F4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734AF89-8829-7DCA-CAA7-6458306F4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6C99-6951-43E6-B476-CC1B37364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1944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5EFBF7E-F13D-BD52-ACE0-025623FDF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840C-0791-48E1-B671-13C468EA22EF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60C5D4A-B363-8DE0-180A-CBDE57D46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D4B698-3007-1E8B-CB78-72BBB43D7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6C99-6951-43E6-B476-CC1B37364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293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42C6E9-5FEA-8AFD-8FC7-B8DEC40A0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36C1C4-E575-B620-9732-8AB942D88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6BC516-AFF4-C216-487F-D0F2DCA41C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ABDFE4-9482-5A44-1F15-6536A22C5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840C-0791-48E1-B671-13C468EA22EF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781845-CF97-FA1C-0B8D-57137EDA6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61A469-1571-E549-4790-D2FC8F58D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6C99-6951-43E6-B476-CC1B37364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16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55A9F-1891-E41B-E558-2718C02B9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C72D6AE-F5A2-A28F-40D9-BFFAC01CE6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945608D-FA06-90B6-719C-FD0E69F488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EBEE2F-97ED-5237-76E0-58C406B30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840C-0791-48E1-B671-13C468EA22EF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227E4E-A36E-E78C-12CC-687E28BEE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66FE38-3C7E-907F-FEF5-20CA48099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6C99-6951-43E6-B476-CC1B37364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1108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3AD1E3-DB82-1066-D320-A7720F29B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1C8609-98EC-7967-1E8A-8724E62F3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381AF1-0947-CF3C-E324-1F1ACBB48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840C-0791-48E1-B671-13C468EA22EF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5F59D0-503F-31B8-2D7B-AA6CB5913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8A4177-8AA7-4C51-D123-7CC595D7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6C99-6951-43E6-B476-CC1B37364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275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D52CEAB-B8C6-4D8A-6E96-B2576C9F22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0D918EE-10F1-EA9F-A189-077EEAD690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76F852-D360-AC8A-18FE-7AAFEBAF0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2840C-0791-48E1-B671-13C468EA22EF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48C728-502C-6D0D-011D-ED1711F70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610853-55FA-0357-B075-0C6B83B75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36C99-6951-43E6-B476-CC1B37364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5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E6E4749-15D0-A01E-0799-6B33F4CD3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AF9322-994E-BE0F-CC34-A66A0261C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8B1FCE-3A2D-E69B-6FA9-67F69C5EE0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A2840C-0791-48E1-B671-13C468EA22EF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2A48DA-D063-5EBE-FC60-050F92CBA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2FA9BD-32D2-CE91-B2B6-01C720402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B36C99-6951-43E6-B476-CC1B37364B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166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3D62F2B-7E48-8C7B-3A0E-6A486E028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2DGP </a:t>
            </a:r>
            <a:r>
              <a:rPr lang="ko-KR" alt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최종 프로젝트 발표</a:t>
            </a: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F5BE31-D837-71E1-CF1F-B4D78A81FD65}"/>
              </a:ext>
            </a:extLst>
          </p:cNvPr>
          <p:cNvSpPr txBox="1"/>
          <p:nvPr/>
        </p:nvSpPr>
        <p:spPr>
          <a:xfrm>
            <a:off x="838200" y="5044273"/>
            <a:ext cx="71401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2024184028 </a:t>
            </a:r>
            <a:r>
              <a:rPr lang="ko-KR" altLang="en-US" sz="3200" dirty="0"/>
              <a:t>정소원</a:t>
            </a:r>
          </a:p>
        </p:txBody>
      </p:sp>
    </p:spTree>
    <p:extLst>
      <p:ext uri="{BB962C8B-B14F-4D97-AF65-F5344CB8AC3E}">
        <p14:creationId xmlns:p14="http://schemas.microsoft.com/office/powerpoint/2010/main" val="2007768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C8CDC3D-816D-1948-A698-C84CF52B2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5400"/>
              <a:t>개발 진척도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sX0" fmla="*/ 0 w 10424160"/>
              <a:gd name="csY0" fmla="*/ 0 h 18288"/>
              <a:gd name="csX1" fmla="*/ 903427 w 10424160"/>
              <a:gd name="csY1" fmla="*/ 0 h 18288"/>
              <a:gd name="csX2" fmla="*/ 1389888 w 10424160"/>
              <a:gd name="csY2" fmla="*/ 0 h 18288"/>
              <a:gd name="csX3" fmla="*/ 2189074 w 10424160"/>
              <a:gd name="csY3" fmla="*/ 0 h 18288"/>
              <a:gd name="csX4" fmla="*/ 2675534 w 10424160"/>
              <a:gd name="csY4" fmla="*/ 0 h 18288"/>
              <a:gd name="csX5" fmla="*/ 3370478 w 10424160"/>
              <a:gd name="csY5" fmla="*/ 0 h 18288"/>
              <a:gd name="csX6" fmla="*/ 4169664 w 10424160"/>
              <a:gd name="csY6" fmla="*/ 0 h 18288"/>
              <a:gd name="csX7" fmla="*/ 4551883 w 10424160"/>
              <a:gd name="csY7" fmla="*/ 0 h 18288"/>
              <a:gd name="csX8" fmla="*/ 4934102 w 10424160"/>
              <a:gd name="csY8" fmla="*/ 0 h 18288"/>
              <a:gd name="csX9" fmla="*/ 5837530 w 10424160"/>
              <a:gd name="csY9" fmla="*/ 0 h 18288"/>
              <a:gd name="csX10" fmla="*/ 6532474 w 10424160"/>
              <a:gd name="csY10" fmla="*/ 0 h 18288"/>
              <a:gd name="csX11" fmla="*/ 6914693 w 10424160"/>
              <a:gd name="csY11" fmla="*/ 0 h 18288"/>
              <a:gd name="csX12" fmla="*/ 7609637 w 10424160"/>
              <a:gd name="csY12" fmla="*/ 0 h 18288"/>
              <a:gd name="csX13" fmla="*/ 8513064 w 10424160"/>
              <a:gd name="csY13" fmla="*/ 0 h 18288"/>
              <a:gd name="csX14" fmla="*/ 9103766 w 10424160"/>
              <a:gd name="csY14" fmla="*/ 0 h 18288"/>
              <a:gd name="csX15" fmla="*/ 9694469 w 10424160"/>
              <a:gd name="csY15" fmla="*/ 0 h 18288"/>
              <a:gd name="csX16" fmla="*/ 10424160 w 10424160"/>
              <a:gd name="csY16" fmla="*/ 0 h 18288"/>
              <a:gd name="csX17" fmla="*/ 10424160 w 10424160"/>
              <a:gd name="csY17" fmla="*/ 18288 h 18288"/>
              <a:gd name="csX18" fmla="*/ 9729216 w 10424160"/>
              <a:gd name="csY18" fmla="*/ 18288 h 18288"/>
              <a:gd name="csX19" fmla="*/ 8930030 w 10424160"/>
              <a:gd name="csY19" fmla="*/ 18288 h 18288"/>
              <a:gd name="csX20" fmla="*/ 8130845 w 10424160"/>
              <a:gd name="csY20" fmla="*/ 18288 h 18288"/>
              <a:gd name="csX21" fmla="*/ 7644384 w 10424160"/>
              <a:gd name="csY21" fmla="*/ 18288 h 18288"/>
              <a:gd name="csX22" fmla="*/ 6740957 w 10424160"/>
              <a:gd name="csY22" fmla="*/ 18288 h 18288"/>
              <a:gd name="csX23" fmla="*/ 6046013 w 10424160"/>
              <a:gd name="csY23" fmla="*/ 18288 h 18288"/>
              <a:gd name="csX24" fmla="*/ 5663794 w 10424160"/>
              <a:gd name="csY24" fmla="*/ 18288 h 18288"/>
              <a:gd name="csX25" fmla="*/ 4968850 w 10424160"/>
              <a:gd name="csY25" fmla="*/ 18288 h 18288"/>
              <a:gd name="csX26" fmla="*/ 4378147 w 10424160"/>
              <a:gd name="csY26" fmla="*/ 18288 h 18288"/>
              <a:gd name="csX27" fmla="*/ 3787445 w 10424160"/>
              <a:gd name="csY27" fmla="*/ 18288 h 18288"/>
              <a:gd name="csX28" fmla="*/ 3196742 w 10424160"/>
              <a:gd name="csY28" fmla="*/ 18288 h 18288"/>
              <a:gd name="csX29" fmla="*/ 2606040 w 10424160"/>
              <a:gd name="csY29" fmla="*/ 18288 h 18288"/>
              <a:gd name="csX30" fmla="*/ 1806854 w 10424160"/>
              <a:gd name="csY30" fmla="*/ 18288 h 18288"/>
              <a:gd name="csX31" fmla="*/ 1111910 w 10424160"/>
              <a:gd name="csY31" fmla="*/ 18288 h 18288"/>
              <a:gd name="csX32" fmla="*/ 729691 w 10424160"/>
              <a:gd name="csY32" fmla="*/ 18288 h 18288"/>
              <a:gd name="csX33" fmla="*/ 0 w 10424160"/>
              <a:gd name="csY33" fmla="*/ 18288 h 18288"/>
              <a:gd name="csX34" fmla="*/ 0 w 10424160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57C445BB-A027-FF5E-9802-10F8B48C29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2923986"/>
              </p:ext>
            </p:extLst>
          </p:nvPr>
        </p:nvGraphicFramePr>
        <p:xfrm>
          <a:off x="998603" y="2055813"/>
          <a:ext cx="10194793" cy="42647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8120">
                  <a:extLst>
                    <a:ext uri="{9D8B030D-6E8A-4147-A177-3AD203B41FA5}">
                      <a16:colId xmlns:a16="http://schemas.microsoft.com/office/drawing/2014/main" val="3539485127"/>
                    </a:ext>
                  </a:extLst>
                </a:gridCol>
                <a:gridCol w="3718314">
                  <a:extLst>
                    <a:ext uri="{9D8B030D-6E8A-4147-A177-3AD203B41FA5}">
                      <a16:colId xmlns:a16="http://schemas.microsoft.com/office/drawing/2014/main" val="571756303"/>
                    </a:ext>
                  </a:extLst>
                </a:gridCol>
                <a:gridCol w="4013007">
                  <a:extLst>
                    <a:ext uri="{9D8B030D-6E8A-4147-A177-3AD203B41FA5}">
                      <a16:colId xmlns:a16="http://schemas.microsoft.com/office/drawing/2014/main" val="2869030233"/>
                    </a:ext>
                  </a:extLst>
                </a:gridCol>
                <a:gridCol w="925352">
                  <a:extLst>
                    <a:ext uri="{9D8B030D-6E8A-4147-A177-3AD203B41FA5}">
                      <a16:colId xmlns:a16="http://schemas.microsoft.com/office/drawing/2014/main" val="1309978618"/>
                    </a:ext>
                  </a:extLst>
                </a:gridCol>
              </a:tblGrid>
              <a:tr h="3573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내용</a:t>
                      </a:r>
                    </a:p>
                  </a:txBody>
                  <a:tcPr marL="81364" marR="81364" marT="40682" marB="4068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목표 범위</a:t>
                      </a:r>
                    </a:p>
                  </a:txBody>
                  <a:tcPr marL="81364" marR="81364" marT="40682" marB="4068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실제 개발 완료 범위</a:t>
                      </a:r>
                    </a:p>
                  </a:txBody>
                  <a:tcPr marL="81364" marR="81364" marT="40682" marB="4068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진척도</a:t>
                      </a:r>
                    </a:p>
                  </a:txBody>
                  <a:tcPr marL="81364" marR="81364" marT="40682" marB="40682"/>
                </a:tc>
                <a:extLst>
                  <a:ext uri="{0D108BD9-81ED-4DB2-BD59-A6C34878D82A}">
                    <a16:rowId xmlns:a16="http://schemas.microsoft.com/office/drawing/2014/main" val="642253970"/>
                  </a:ext>
                </a:extLst>
              </a:tr>
              <a:tr h="59168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맵</a:t>
                      </a:r>
                    </a:p>
                  </a:txBody>
                  <a:tcPr marL="81364" marR="81364" marT="40682" marB="4068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스테이지 구성</a:t>
                      </a:r>
                      <a:r>
                        <a:rPr lang="en-US" altLang="ko-KR" sz="1400" dirty="0"/>
                        <a:t>,</a:t>
                      </a:r>
                      <a:r>
                        <a:rPr lang="ko-KR" altLang="en-US" sz="1400" dirty="0"/>
                        <a:t> 단계를 화면에 출력하여 마우스로 선택</a:t>
                      </a:r>
                      <a:r>
                        <a:rPr lang="en-US" altLang="ko-KR" sz="1400" dirty="0"/>
                        <a:t>, 3</a:t>
                      </a:r>
                      <a:r>
                        <a:rPr lang="ko-KR" altLang="en-US" sz="1400" dirty="0"/>
                        <a:t>개의 배경</a:t>
                      </a:r>
                    </a:p>
                  </a:txBody>
                  <a:tcPr marL="81364" marR="81364" marT="40682" marB="4068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스테이지 구성</a:t>
                      </a:r>
                      <a:r>
                        <a:rPr lang="en-US" altLang="ko-KR" sz="1400"/>
                        <a:t>,</a:t>
                      </a:r>
                      <a:r>
                        <a:rPr lang="ko-KR" altLang="en-US" sz="1400"/>
                        <a:t> </a:t>
                      </a:r>
                      <a:r>
                        <a:rPr lang="en-US" altLang="ko-KR" sz="1400"/>
                        <a:t>1</a:t>
                      </a:r>
                      <a:r>
                        <a:rPr lang="ko-KR" altLang="en-US" sz="1400"/>
                        <a:t>개의 배경</a:t>
                      </a:r>
                    </a:p>
                  </a:txBody>
                  <a:tcPr marL="81364" marR="81364" marT="40682" marB="4068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60%</a:t>
                      </a:r>
                      <a:endParaRPr lang="ko-KR" altLang="en-US" sz="1400"/>
                    </a:p>
                  </a:txBody>
                  <a:tcPr marL="81364" marR="81364" marT="40682" marB="40682"/>
                </a:tc>
                <a:extLst>
                  <a:ext uri="{0D108BD9-81ED-4DB2-BD59-A6C34878D82A}">
                    <a16:rowId xmlns:a16="http://schemas.microsoft.com/office/drawing/2014/main" val="861526417"/>
                  </a:ext>
                </a:extLst>
              </a:tr>
              <a:tr h="59168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캐릭터 컨트롤러</a:t>
                      </a:r>
                    </a:p>
                  </a:txBody>
                  <a:tcPr marL="81364" marR="81364" marT="40682" marB="4068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상하좌우 이동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공격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점프</a:t>
                      </a:r>
                    </a:p>
                  </a:txBody>
                  <a:tcPr marL="81364" marR="81364" marT="40682" marB="4068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/>
                        <a:t>좌우 이동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공격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점프</a:t>
                      </a:r>
                    </a:p>
                    <a:p>
                      <a:pPr latinLnBrk="1"/>
                      <a:endParaRPr lang="ko-KR" altLang="en-US" sz="1400"/>
                    </a:p>
                  </a:txBody>
                  <a:tcPr marL="81364" marR="81364" marT="40682" marB="4068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90%</a:t>
                      </a:r>
                      <a:endParaRPr lang="ko-KR" altLang="en-US" sz="1400"/>
                    </a:p>
                  </a:txBody>
                  <a:tcPr marL="81364" marR="81364" marT="40682" marB="40682"/>
                </a:tc>
                <a:extLst>
                  <a:ext uri="{0D108BD9-81ED-4DB2-BD59-A6C34878D82A}">
                    <a16:rowId xmlns:a16="http://schemas.microsoft.com/office/drawing/2014/main" val="99530582"/>
                  </a:ext>
                </a:extLst>
              </a:tr>
              <a:tr h="82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게임 코어 기능</a:t>
                      </a:r>
                    </a:p>
                  </a:txBody>
                  <a:tcPr marL="81364" marR="81364" marT="40682" marB="4068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적과 캐릭터의 충돌 구현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적의 난이도 상승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스테이지 별 캐릭터 선택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적이 쫓아오며 공격</a:t>
                      </a:r>
                    </a:p>
                  </a:txBody>
                  <a:tcPr marL="81364" marR="81364" marT="40682" marB="4068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적과 캐릭터의 충돌 구현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적의 난이도 상승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게임 시작 시 캐릭터 선택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적이 쫓아옴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적과 닿으면 공격당함</a:t>
                      </a:r>
                    </a:p>
                  </a:txBody>
                  <a:tcPr marL="81364" marR="81364" marT="40682" marB="4068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75%</a:t>
                      </a:r>
                      <a:endParaRPr lang="ko-KR" altLang="en-US" sz="1400"/>
                    </a:p>
                  </a:txBody>
                  <a:tcPr marL="81364" marR="81364" marT="40682" marB="40682"/>
                </a:tc>
                <a:extLst>
                  <a:ext uri="{0D108BD9-81ED-4DB2-BD59-A6C34878D82A}">
                    <a16:rowId xmlns:a16="http://schemas.microsoft.com/office/drawing/2014/main" val="2375290087"/>
                  </a:ext>
                </a:extLst>
              </a:tr>
              <a:tr h="5916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/>
                        <a:t>게임 난이도</a:t>
                      </a:r>
                    </a:p>
                    <a:p>
                      <a:pPr latinLnBrk="1"/>
                      <a:endParaRPr lang="ko-KR" altLang="en-US" sz="1400"/>
                    </a:p>
                  </a:txBody>
                  <a:tcPr marL="81364" marR="81364" marT="40682" marB="4068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적의 강도 상승</a:t>
                      </a:r>
                    </a:p>
                  </a:txBody>
                  <a:tcPr marL="81364" marR="81364" marT="40682" marB="4068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적의 강도가 스테이지 별로 상승</a:t>
                      </a:r>
                    </a:p>
                  </a:txBody>
                  <a:tcPr marL="81364" marR="81364" marT="40682" marB="4068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100%</a:t>
                      </a:r>
                      <a:endParaRPr lang="ko-KR" altLang="en-US" sz="1400" dirty="0"/>
                    </a:p>
                  </a:txBody>
                  <a:tcPr marL="81364" marR="81364" marT="40682" marB="40682"/>
                </a:tc>
                <a:extLst>
                  <a:ext uri="{0D108BD9-81ED-4DB2-BD59-A6C34878D82A}">
                    <a16:rowId xmlns:a16="http://schemas.microsoft.com/office/drawing/2014/main" val="1544394406"/>
                  </a:ext>
                </a:extLst>
              </a:tr>
              <a:tr h="3573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사운드</a:t>
                      </a:r>
                    </a:p>
                  </a:txBody>
                  <a:tcPr marL="81364" marR="81364" marT="40682" marB="4068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배경 음악</a:t>
                      </a:r>
                    </a:p>
                  </a:txBody>
                  <a:tcPr marL="81364" marR="81364" marT="40682" marB="4068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배경 음악</a:t>
                      </a:r>
                    </a:p>
                  </a:txBody>
                  <a:tcPr marL="81364" marR="81364" marT="40682" marB="4068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100%</a:t>
                      </a:r>
                      <a:endParaRPr lang="ko-KR" altLang="en-US" sz="1400" dirty="0"/>
                    </a:p>
                  </a:txBody>
                  <a:tcPr marL="81364" marR="81364" marT="40682" marB="40682"/>
                </a:tc>
                <a:extLst>
                  <a:ext uri="{0D108BD9-81ED-4DB2-BD59-A6C34878D82A}">
                    <a16:rowId xmlns:a16="http://schemas.microsoft.com/office/drawing/2014/main" val="422244286"/>
                  </a:ext>
                </a:extLst>
              </a:tr>
              <a:tr h="59168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애니메이션</a:t>
                      </a:r>
                    </a:p>
                  </a:txBody>
                  <a:tcPr marL="81364" marR="81364" marT="40682" marB="4068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걷기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점프</a:t>
                      </a:r>
                      <a:r>
                        <a:rPr lang="en-US" altLang="ko-KR" sz="1400" dirty="0"/>
                        <a:t>, 4</a:t>
                      </a:r>
                      <a:r>
                        <a:rPr lang="ko-KR" altLang="en-US" sz="1400" dirty="0"/>
                        <a:t>종 공격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맞기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쓰러지기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적의 공격</a:t>
                      </a:r>
                    </a:p>
                  </a:txBody>
                  <a:tcPr marL="81364" marR="81364" marT="40682" marB="40682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/>
                        <a:t>걷기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점프</a:t>
                      </a:r>
                      <a:r>
                        <a:rPr lang="en-US" altLang="ko-KR" sz="1400"/>
                        <a:t>, 2</a:t>
                      </a:r>
                      <a:r>
                        <a:rPr lang="ko-KR" altLang="en-US" sz="1400"/>
                        <a:t>종 공격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맞기</a:t>
                      </a:r>
                      <a:r>
                        <a:rPr lang="en-US" altLang="ko-KR" sz="1400"/>
                        <a:t>, </a:t>
                      </a:r>
                      <a:r>
                        <a:rPr lang="ko-KR" altLang="en-US" sz="1400"/>
                        <a:t>쓰러지기</a:t>
                      </a:r>
                    </a:p>
                    <a:p>
                      <a:pPr latinLnBrk="1"/>
                      <a:endParaRPr lang="ko-KR" altLang="en-US" sz="1400"/>
                    </a:p>
                  </a:txBody>
                  <a:tcPr marL="81364" marR="81364" marT="40682" marB="4068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66%</a:t>
                      </a:r>
                      <a:endParaRPr lang="ko-KR" altLang="en-US" sz="1400" dirty="0"/>
                    </a:p>
                  </a:txBody>
                  <a:tcPr marL="81364" marR="81364" marT="40682" marB="40682"/>
                </a:tc>
                <a:extLst>
                  <a:ext uri="{0D108BD9-81ED-4DB2-BD59-A6C34878D82A}">
                    <a16:rowId xmlns:a16="http://schemas.microsoft.com/office/drawing/2014/main" val="4243304294"/>
                  </a:ext>
                </a:extLst>
              </a:tr>
              <a:tr h="3573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모델링</a:t>
                      </a:r>
                    </a:p>
                  </a:txBody>
                  <a:tcPr marL="81364" marR="81364" marT="40682" marB="4068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4</a:t>
                      </a:r>
                      <a:r>
                        <a:rPr lang="ko-KR" altLang="en-US" sz="1400"/>
                        <a:t>종 캐릭터</a:t>
                      </a:r>
                    </a:p>
                  </a:txBody>
                  <a:tcPr marL="81364" marR="81364" marT="40682" marB="4068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2</a:t>
                      </a:r>
                      <a:r>
                        <a:rPr lang="ko-KR" altLang="en-US" sz="1400"/>
                        <a:t>종 캐릭터</a:t>
                      </a:r>
                    </a:p>
                  </a:txBody>
                  <a:tcPr marL="81364" marR="81364" marT="40682" marB="40682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50%</a:t>
                      </a:r>
                      <a:endParaRPr lang="ko-KR" altLang="en-US" sz="1400" dirty="0"/>
                    </a:p>
                  </a:txBody>
                  <a:tcPr marL="81364" marR="81364" marT="40682" marB="40682"/>
                </a:tc>
                <a:extLst>
                  <a:ext uri="{0D108BD9-81ED-4DB2-BD59-A6C34878D82A}">
                    <a16:rowId xmlns:a16="http://schemas.microsoft.com/office/drawing/2014/main" val="3207875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5036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065348-99E8-9FDC-282F-ADEF589C4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깃 </a:t>
            </a:r>
            <a:r>
              <a:rPr lang="ko-KR" altLang="en-US" dirty="0" err="1"/>
              <a:t>커밋</a:t>
            </a:r>
            <a:r>
              <a:rPr lang="ko-KR" altLang="en-US" dirty="0"/>
              <a:t> 통계</a:t>
            </a:r>
          </a:p>
        </p:txBody>
      </p:sp>
      <p:pic>
        <p:nvPicPr>
          <p:cNvPr id="5" name="내용 개체 틀 4" descr="텍스트, 스크린샷, 그래프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0603D0-0747-6420-DA97-7E439DC574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2051" y="1597000"/>
            <a:ext cx="7145594" cy="4651200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D9CAF96-9409-0C09-8A44-1CE883AF2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252008"/>
              </p:ext>
            </p:extLst>
          </p:nvPr>
        </p:nvGraphicFramePr>
        <p:xfrm>
          <a:off x="8540367" y="1645701"/>
          <a:ext cx="2813433" cy="4487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97672">
                  <a:extLst>
                    <a:ext uri="{9D8B030D-6E8A-4147-A177-3AD203B41FA5}">
                      <a16:colId xmlns:a16="http://schemas.microsoft.com/office/drawing/2014/main" val="779843457"/>
                    </a:ext>
                  </a:extLst>
                </a:gridCol>
                <a:gridCol w="1015761">
                  <a:extLst>
                    <a:ext uri="{9D8B030D-6E8A-4147-A177-3AD203B41FA5}">
                      <a16:colId xmlns:a16="http://schemas.microsoft.com/office/drawing/2014/main" val="3497351153"/>
                    </a:ext>
                  </a:extLst>
                </a:gridCol>
              </a:tblGrid>
              <a:tr h="45499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/>
                        <a:t>커밋</a:t>
                      </a:r>
                      <a:r>
                        <a:rPr lang="ko-KR" altLang="en-US" sz="1400" dirty="0"/>
                        <a:t> 횟수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53550770"/>
                  </a:ext>
                </a:extLst>
              </a:tr>
              <a:tr h="45499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Week of Sep 28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7982455"/>
                  </a:ext>
                </a:extLst>
              </a:tr>
              <a:tr h="4933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Week of Oct 12</a:t>
                      </a:r>
                      <a:endParaRPr lang="ko-KR" altLang="en-US" sz="1400" dirty="0"/>
                    </a:p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1531856"/>
                  </a:ext>
                </a:extLst>
              </a:tr>
              <a:tr h="4933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Week of Oct 19</a:t>
                      </a:r>
                      <a:endParaRPr lang="ko-KR" altLang="en-US" sz="1400" dirty="0"/>
                    </a:p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3340045"/>
                  </a:ext>
                </a:extLst>
              </a:tr>
              <a:tr h="4933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Week of Nov 2</a:t>
                      </a:r>
                      <a:endParaRPr lang="ko-KR" altLang="en-US" sz="1400" dirty="0"/>
                    </a:p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97796460"/>
                  </a:ext>
                </a:extLst>
              </a:tr>
              <a:tr h="4933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Week of Nov 9</a:t>
                      </a:r>
                      <a:endParaRPr lang="ko-KR" altLang="en-US" sz="1400" dirty="0"/>
                    </a:p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18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633195"/>
                  </a:ext>
                </a:extLst>
              </a:tr>
              <a:tr h="4933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Week of Nov 23</a:t>
                      </a:r>
                      <a:endParaRPr lang="ko-KR" altLang="en-US" sz="1400" dirty="0"/>
                    </a:p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18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1302485"/>
                  </a:ext>
                </a:extLst>
              </a:tr>
              <a:tr h="4682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Week of Nov 30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7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73439586"/>
                  </a:ext>
                </a:extLst>
              </a:tr>
              <a:tr h="4933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Week of Dec 7</a:t>
                      </a:r>
                      <a:endParaRPr lang="ko-KR" altLang="en-US" sz="1400" dirty="0"/>
                    </a:p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842798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7660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198</Words>
  <Application>Microsoft Office PowerPoint</Application>
  <PresentationFormat>와이드스크린</PresentationFormat>
  <Paragraphs>54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2DGP 최종 프로젝트 발표</vt:lpstr>
      <vt:lpstr>개발 진척도</vt:lpstr>
      <vt:lpstr>깃 커밋 통계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정소원(2024184028)</dc:creator>
  <cp:lastModifiedBy>정소원(2024184028)</cp:lastModifiedBy>
  <cp:revision>2</cp:revision>
  <dcterms:created xsi:type="dcterms:W3CDTF">2025-12-07T09:27:01Z</dcterms:created>
  <dcterms:modified xsi:type="dcterms:W3CDTF">2025-12-07T14:52:38Z</dcterms:modified>
</cp:coreProperties>
</file>